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δευτ. Άνοιγμα: «Θα σας δείξω ένα σύστημα που φροντίζει ένα θερμοκήπιο μόνο του — και το γιατί έχει σημασία πολύ πέρα από τα φυτά.» Πες ότι θα πάμε: πρόβλημα → πώς δουλεύει → τι το κάνει διαφορετικό → πού πάει.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δευτ. Μην διαβάσεις τα νούμερα — δείξε τα. Το μήνυμα: το πρόβλημα δεν είναι η άγνοια, είναι ο χρόνος. Κανείς δεν μπορεί να είναι στο θερμοκήπιο στις 4 τα ξημερώματα.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Αυτή είναι η διαφάνεια που δικαιολογεί την ύπαρξη του έργου. Κλείσε με τη γραμμή στο κάτω μέρος — είναι η γέφυρα προς τη λύση.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Διάβασε τη ροή αριστερά→δεξιά μία φορά, αργά. Το κάτω πλαίσιο είναι το κύριο μήνυμα της διαφάνειας.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Οι τρεις στήλες αντιστοιχούν στα τρία από τα τέσσερα εμπόδια της προηγούμενης διαφάνειας. Πες το ρητά.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~55 δευτ. Η δυνατή ατάκα: «η μπαταρία δεν είναι λεπτομέρεια — είναι το προϊόν». Ένα σύστημα που θέλει αλλαγή μπαταριών κάθε βδομάδα δεν το χρησιμοποιεί κανείς τη δεύτερη σεζόν.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δευτ. ΚΟΡΥΦΑΙΑ ΔΙΑΦΑΝΕΙΑ. Δείξε τις τέσσερις εικόνες με τη σειρά και πες: ίδιοι κόμβοι, ίδιο δωμάτιο, καμία ρύθμιση — το δίκτυο βρήκε τέσσερις διαφορετικές τοπολογίες μόνο του. Αυτό δεν είναι προσομοίωση, είναι στιγμιότυπα από το κινητό.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~55 δευτ. Χρησιμοποίησε την εικόνα της σκυταλοδρομίας. Τόνισε ότι ο ενδιάμεσος κόμβος δεν διαβάζει το περιεχόμενο — αυτό είναι που κάνει το δίκτυο να κλιμακώνεται χωρίς όριο.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~55 δευτ. Η διάκριση παρακολούθηση vs αυτοματισμός είναι το εμπορικό επιχείρημα. Τα προφίλ φυτών είναι το κομμάτι που κάνει το σύστημα κατανοητό σε κάποιον που δεν είναι μηχανικός.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Για την επιτροπή: η ασφάλεια δεν προστέθηκε στο τέλος, έγινε ως ξεχωριστό πέρασμα με καταγραφή. Για τον πελάτη: το πότισμα δεν ανοίγει από ξένο.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δευτ. Μην διαβάσεις όλο τον πίνακα. Δείξε δύο γραμμές: «χωρίς Internet» και «προσθήκη αισθητήρα». Αυτές είναι που κερδίζουν.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δευτ. Πέρασε γρήγορα από θερμοκήπιο, μείνε στο φυτώριο (επόμενη διαφάνεια), κλείσε με το χωράφι ως ορίζοντα.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Εδώ είναι το εμπορικό επιχείρημα. Το φυτώριο έχει μετρήσιμη απώλεια ανά παρτίδα — άρα ξέρει να υπολογίσει την αξία του συστήματος χωρίς να του την εξηγήσεις.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Αυτή είναι η υπόσχεση του προϊόντος. Τόνισε ότι η αρχιτεκτονική είναι φτιαγμένη ώστε ο αριθμός των αισθητήρων να μην είναι πρόβλημα: ο ενδιάμεσος δεν διαβάζει, άρα δεν χρειάζεται να ξέρει κανέναν.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~55 δευτ. Ο κύκλος είναι το θεωρητικό επιχείρημα: παρακολούθηση → πρόβλεψη → δράση → μάθηση. Το τελευταίο βήμα (μαθαίνει) είναι αυτό που κάνει κάθε εγκατάσταση να αξίζει περισσότερο με τον χρόνο.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δευτ. Αυτή είναι η διαφάνεια για την επιτροπή και για επενδυτή ταυτόχρονα: το έργο δεν είναι μια εφαρμογή γεωργίας, είναι μια πλατφόρμα τηλεμετρίας που έτυχε να ξεκινήσει από θερμοκήπιο.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δευτ. Κλείσε με την ατάκα, μετά τα τρία επόμενα βήματα, και άνοιξε για ερωτήσεις. Τα παραρτήματα που ακολουθούν είναι για τις ερωτήσεις.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Παράρτημα. Χρησιμοποίησέ το μόνο αν ρωτήσουν «τι δουλεύει πραγματικά τώρα».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Παράρτημα. Για την ερώτηση «πόσο κρατάει η μπαταρία και πώς το ξέρετε».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Παράρτημα. Οι δύο στατιστικές πηγές είναι αυτές που στηρίζουν τα νούμερα της δεύτερης διαφάνειας.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2.png"/><Relationship Id="rId5" Type="http://schemas.openxmlformats.org/officeDocument/2006/relationships/image" Target="../media/image-15-5.png"/><Relationship Id="rId6" Type="http://schemas.openxmlformats.org/officeDocument/2006/relationships/image" Target="../media/image-15-2.png"/><Relationship Id="rId7" Type="http://schemas.openxmlformats.org/officeDocument/2006/relationships/image" Target="../media/image-15-7.png"/><Relationship Id="rId8" Type="http://schemas.openxmlformats.org/officeDocument/2006/relationships/image" Target="../media/image-15-2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2256739"/>
            <a:ext cx="1399032" cy="-839419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52360" y="2256739"/>
            <a:ext cx="466344" cy="1585570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51392" y="1417320"/>
            <a:ext cx="-139903" cy="1818742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11489" y="3236062"/>
            <a:ext cx="1538935" cy="-792785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50424" y="2443277"/>
            <a:ext cx="-279806" cy="1772107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50424" y="2443277"/>
            <a:ext cx="1025957" cy="1119226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18704" y="3842309"/>
            <a:ext cx="792785" cy="-606247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91735" y="2196114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58123" y="1324051"/>
            <a:ext cx="186538" cy="186538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50864" y="3175437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89799" y="2382652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09993" y="4154759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58079" y="3781684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15756" y="3501878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178308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ΔΙΠΛΩΜΑΤΙΚΗ ΕΡΓΑΣΙΑ · ΠΑΡΟΥΣΙΑΣΗ ΠΡΟΪΟΝΤΟΣ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86384" y="212140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GreenHouse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127248"/>
            <a:ext cx="6675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θερμοκήπιο που δεν χρειάζεται</a:t>
            </a:r>
            <a:endParaRPr lang="en-US" sz="25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να το προσέχεις.</a:t>
            </a:r>
            <a:endParaRPr lang="en-US" sz="2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Αυτο-οργανούμενο δίκτυο αισθητήρων με μπαταρία  ·  Τοπική νοημοσύνη, χωρίς cloud  ·  Από το θερμοκήπιο στο φυτώριο και στο χωράφι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943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Σεπτέμβριος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ΠΡΟΒΛΗΜΑ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ζημιά γίνεται τη νύχτα που δεν κοίταξε κανείς.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56432" cy="2578608"/>
          </a:xfrm>
          <a:prstGeom prst="roundRect">
            <a:avLst>
              <a:gd name="adj" fmla="val 354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Drople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911" y="2603663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31455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80–85%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767328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του νερού που καταναλώνει η Ελλάδα πηγαίνει στην άρδευση — με το ρολόι, όχι με τη μέτρηση.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70832" y="2148840"/>
            <a:ext cx="3456432" cy="2578608"/>
          </a:xfrm>
          <a:prstGeom prst="roundRect">
            <a:avLst>
              <a:gd name="adj" fmla="val 354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36592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1" name="Image 1" descr="assets/icons/FaSeedlin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663" y="2603663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6592" y="31455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~66.000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4736592" y="3767328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στρέμματα θερμοκηπίων στην Ελλάδα. Τα περισσότερα ελέγχονται ακόμη με το μάτι.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01584" y="2148840"/>
            <a:ext cx="3456432" cy="2578608"/>
          </a:xfrm>
          <a:prstGeom prst="roundRect">
            <a:avLst>
              <a:gd name="adj" fmla="val 354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67344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Image 2" descr="assets/icons/FaSnowflak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415" y="2603663"/>
            <a:ext cx="260787" cy="2607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67344" y="31455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Μία νύχτα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8467344" y="3767328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παγετού αρκεί για να μηδενίσει μια σεζόν. Η ειδοποίηση πρέπει να έρθει πριν.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024128" y="5084064"/>
            <a:ext cx="10143439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καλλιεργητής μαθαίνει το πρόβλημα όταν το βλέπει στο φύλλο. Τότε είναι ήδη αργά — και η μέτρηση που θα το είχε προλάβει κόστιζε λίγα ευρώ.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64190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Πηγές: ΕΛΣΤΑΤ (θερμοκηπιακές εκτάσεις, 2018) · Global NEST Journal, Latinopoulos (άρδευση ως ποσοστό κατανάλωσης νερού).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ΓΙΑΤΙ ΔΕΝ ΕΧΕΙ ΛΥΘΕΙ ΗΔΗ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Τέσσερα εμπόδια κρατούν τον αυτοματισμό μακριά από το χωράφι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321808" cy="1810512"/>
          </a:xfrm>
          <a:prstGeom prst="roundRect">
            <a:avLst>
              <a:gd name="adj" fmla="val 5051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35000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CloudArrowU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335" y="2503079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00784" y="231343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Συνδρομή για τα δικά σου δεδομένα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00784" y="2898648"/>
            <a:ext cx="4041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εμπορικά συστήματα στέλνουν τις μετρήσεις σε ξένο cloud και χρεώνουν κάθε μήνα για να τις διαβάσεις.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36208" y="2057400"/>
            <a:ext cx="5321808" cy="1810512"/>
          </a:xfrm>
          <a:prstGeom prst="roundRect">
            <a:avLst>
              <a:gd name="adj" fmla="val 5051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65392" y="235000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1" name="Image 1" descr="assets/icons/FaPlu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463" y="2503079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96912" y="231343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Καλώδιο και ρεύμα σε κάθε σημείο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296912" y="2898648"/>
            <a:ext cx="4041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αυτοσχέδιες λύσεις θέλουν πρίζα και router παντού. Μέσα στην υγρασία, κάθε καλώδιο είναι βλάβη που περιμένει.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995928"/>
            <a:ext cx="5321808" cy="1810512"/>
          </a:xfrm>
          <a:prstGeom prst="roundRect">
            <a:avLst>
              <a:gd name="adj" fmla="val 5051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9264" y="4288536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Image 2" descr="assets/icons/FaBatteryFull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335" y="4441607"/>
            <a:ext cx="260787" cy="2607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00784" y="425196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WiFi τρώει τη μπαταρία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700784" y="4837176"/>
            <a:ext cx="4041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Ένας κόμβος που σηκώνει WiFi αδειάζει σε ώρες. Η ενέργεια — όχι ο αισθητήρας — είναι το πραγματικό εμπόδιο.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36208" y="3995928"/>
            <a:ext cx="5321808" cy="1810512"/>
          </a:xfrm>
          <a:prstGeom prst="roundRect">
            <a:avLst>
              <a:gd name="adj" fmla="val 5051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65392" y="4288536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1" name="Image 3" descr="assets/icons/FaBa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8463" y="4441607"/>
            <a:ext cx="260787" cy="2607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96912" y="425196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Πέφτει η γραμμή, χάνεις το θερμοκήπιο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837176"/>
            <a:ext cx="4041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Όταν ο εγκέφαλος είναι στο cloud, μια διακοπή Internet σταματά και το πότισμα και τις ειδοποιήσεις.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59893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Κανένα από τα τέσσερα δεν είναι νόμος της φύσης. Και τα τέσσερα είναι σχεδιαστικές επιλογές — που μπορούν να γίνουν αλλιώς.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ΛΥΣΗ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ιδέα, σε μία διαφάνεια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468880" cy="2514600"/>
          </a:xfrm>
          <a:prstGeom prst="roundRect">
            <a:avLst>
              <a:gd name="adj" fmla="val 3704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432304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CircleNode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047" y="2585375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" y="3127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Κόμβοι μπαταρίας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3493008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Μετρούν θερμοκρασία, υγρασία αέρα και υγρασία εδάφους. Μιλούν απευθείας μεταξύ τους.</a:t>
            </a:r>
            <a:endParaRPr lang="en-US" sz="1150" dirty="0"/>
          </a:p>
        </p:txBody>
      </p:sp>
      <p:pic>
        <p:nvPicPr>
          <p:cNvPr id="9" name="Image 1" descr="assets/icons/FaArrowRight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315468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29000" y="2148840"/>
            <a:ext cx="2468880" cy="2514600"/>
          </a:xfrm>
          <a:prstGeom prst="roundRect">
            <a:avLst>
              <a:gd name="adj" fmla="val 3704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739896" y="2432304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2" descr="assets/icons/FaTowerBroadcas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967" y="2585375"/>
            <a:ext cx="260787" cy="2607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39896" y="3127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Γέφυρα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3739896" y="3493008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Τρία σύρματα προς τον υπολογιστή. Καμία σύνδεση, κανένας κωδικός επάνω της.</a:t>
            </a:r>
            <a:endParaRPr lang="en-US" sz="1150" dirty="0"/>
          </a:p>
        </p:txBody>
      </p:sp>
      <p:pic>
        <p:nvPicPr>
          <p:cNvPr id="15" name="Image 3" descr="assets/icons/FaArrowRight_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154680"/>
            <a:ext cx="25603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17920" y="2148840"/>
            <a:ext cx="2468880" cy="2514600"/>
          </a:xfrm>
          <a:prstGeom prst="roundRect">
            <a:avLst>
              <a:gd name="adj" fmla="val 3704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6528816" y="2432304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8" name="Image 4" descr="assets/icons/FaMicrochip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887" y="2585375"/>
            <a:ext cx="260787" cy="26078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528816" y="3127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εγκέφαλος</a:t>
            </a:r>
            <a:endParaRPr lang="en-US" sz="1350" dirty="0"/>
          </a:p>
        </p:txBody>
      </p:sp>
      <p:sp>
        <p:nvSpPr>
          <p:cNvPr id="20" name="Text 13"/>
          <p:cNvSpPr txBox="1"/>
          <p:nvPr/>
        </p:nvSpPr>
        <p:spPr>
          <a:xfrm>
            <a:off x="6528816" y="3493008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Ένας υπολογιστής παλάμης μέσα στον χώρο: βάση δεδομένων, κανόνες, καιρός, ασφάλεια.</a:t>
            </a:r>
            <a:endParaRPr lang="en-US" sz="1150" dirty="0"/>
          </a:p>
        </p:txBody>
      </p:sp>
      <p:pic>
        <p:nvPicPr>
          <p:cNvPr id="21" name="Image 5" descr="assets/icons/FaArrowRight_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3154680"/>
            <a:ext cx="256032" cy="25603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006840" y="2148840"/>
            <a:ext cx="2468880" cy="2514600"/>
          </a:xfrm>
          <a:prstGeom prst="roundRect">
            <a:avLst>
              <a:gd name="adj" fmla="val 3704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9317736" y="2432304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4" name="Image 6" descr="assets/icons/FaMobileScreenButton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0807" y="2585375"/>
            <a:ext cx="260787" cy="260787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317736" y="3127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εφαρμογή</a:t>
            </a:r>
            <a:endParaRPr lang="en-US" sz="1350" dirty="0"/>
          </a:p>
        </p:txBody>
      </p:sp>
      <p:sp>
        <p:nvSpPr>
          <p:cNvPr id="26" name="Text 17"/>
          <p:cNvSpPr txBox="1"/>
          <p:nvPr/>
        </p:nvSpPr>
        <p:spPr>
          <a:xfrm>
            <a:off x="9317736" y="3493008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Ζώνες, χάρτης δικτύου, ιστορικό, κανόνες και ειδοποιήσεις — μέσα κι έξω από το κτήμα.</a:t>
            </a:r>
            <a:endParaRPr lang="en-US" sz="1150" dirty="0"/>
          </a:p>
        </p:txBody>
      </p:sp>
      <p:sp>
        <p:nvSpPr>
          <p:cNvPr id="27" name="Shape 18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8696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1024128" y="5020056"/>
            <a:ext cx="101434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Κανένα cloud IoT platform. Καμία συνδρομή. Ο εγκέφαλος μένει μέσα στο θερμοκήπιο — και συνεχίζει να ποτίζει και να ειδοποιεί ακόμη κι όταν πέσει το Internet.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ΑΠΟΦΑΣΕΙΣ ΠΟΥ ΜΕΤΡΑΝΕ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επιλογές που αλλάζουν τα πάντα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56432" cy="3246120"/>
          </a:xfrm>
          <a:prstGeom prst="roundRect">
            <a:avLst>
              <a:gd name="adj" fmla="val 281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BatteryFul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911" y="2603663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31638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Χωρίς WiFi στους αισθητήρες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822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330×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περισσότερη ζωή μπαταρίας από έναν κόμβο που μένει συνεχώς ξύπνιος. Ξυπνά, στέλνει, κοιμάται.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0832" y="2148840"/>
            <a:ext cx="3456432" cy="3246120"/>
          </a:xfrm>
          <a:prstGeom prst="roundRect">
            <a:avLst>
              <a:gd name="adj" fmla="val 281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36592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1" descr="assets/icons/FaArrowsRotat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663" y="2603663"/>
            <a:ext cx="260787" cy="2607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36592" y="31638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Δίκτυο που στήνεται μόνο του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736592" y="3822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Μηδέν</a:t>
            </a:r>
            <a:endParaRPr lang="en-US" sz="3400" dirty="0"/>
          </a:p>
        </p:txBody>
      </p:sp>
      <p:sp>
        <p:nvSpPr>
          <p:cNvPr id="15" name="Text 11"/>
          <p:cNvSpPr txBox="1"/>
          <p:nvPr/>
        </p:nvSpPr>
        <p:spPr>
          <a:xfrm>
            <a:off x="4736592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καλώδια, router ή ρυθμίσεις μέσα στον χώρο. Οι κόμβοι βρίσκουν δρόμο μεταξύ τους και τον ξαναβρίσκουν αν χαθεί.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01584" y="2148840"/>
            <a:ext cx="3456432" cy="3246120"/>
          </a:xfrm>
          <a:prstGeom prst="roundRect">
            <a:avLst>
              <a:gd name="adj" fmla="val 281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67344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8" name="Image 2" descr="assets/icons/FaEuroSig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415" y="2603663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67344" y="31638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εγκέφαλος μένει στο κτήμα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467344" y="3822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</a:t>
            </a:r>
            <a:endParaRPr lang="en-US" sz="3400" dirty="0"/>
          </a:p>
        </p:txBody>
      </p:sp>
      <p:sp>
        <p:nvSpPr>
          <p:cNvPr id="21" name="Text 16"/>
          <p:cNvSpPr txBox="1"/>
          <p:nvPr/>
        </p:nvSpPr>
        <p:spPr>
          <a:xfrm>
            <a:off x="8467344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συνδρομή τον μήνα, για πάντα. Τα δεδομένα σου δεν φεύγουν ποτέ από τον χώρο σου.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Καμία από τις τρεις δεν κοστίζει παραπάνω. Είναι απλώς η σωστή απόφαση, παρμένη νωρίς.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ΕΝΕΡΓΕΙΑ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Ένας αισθητήρας που δεν τον αγγίζεις ποτέ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 ημέρες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980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μία μικρή μπαταρία — χωρίς καθόλου ήλιο.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Ξυπνά 2,5 δευτερόλεπτα κάθε 15 λεπτά. Είναι ενεργός το 0,28% της ζωής του.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ένα μικρό ηλιακό πάνελ, ο χειμώνας της Αθήνας δίνει περίπου 60 φορές περισσότερη ενέργεια απ’ όση χρειάζεται.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Στέλνει και τη δική του στάθμη μπαταρίας — το ξέρεις πριν σβήσει, όχι όταν λείψουν οι μετρήσεις.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53328" y="208483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Αυτονομία με την ίδια μπαταρία (ημέρες)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321040" y="2651760"/>
            <a:ext cx="0" cy="1874520"/>
          </a:xfrm>
          <a:prstGeom prst="line">
            <a:avLst/>
          </a:prstGeom>
          <a:noFill/>
          <a:ln w="12700">
            <a:solidFill>
              <a:srgbClr val="DCE5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0" y="45720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945508" y="2651760"/>
            <a:ext cx="0" cy="1874520"/>
          </a:xfrm>
          <a:prstGeom prst="line">
            <a:avLst/>
          </a:prstGeom>
          <a:noFill/>
          <a:ln w="12700">
            <a:solidFill>
              <a:srgbClr val="DCE5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71188" y="45720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569977" y="2651760"/>
            <a:ext cx="0" cy="1874520"/>
          </a:xfrm>
          <a:prstGeom prst="line">
            <a:avLst/>
          </a:prstGeom>
          <a:noFill/>
          <a:ln w="12700">
            <a:solidFill>
              <a:srgbClr val="DCE5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95657" y="45720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194445" y="2651760"/>
            <a:ext cx="0" cy="1874520"/>
          </a:xfrm>
          <a:prstGeom prst="line">
            <a:avLst/>
          </a:prstGeom>
          <a:noFill/>
          <a:ln w="12700">
            <a:solidFill>
              <a:srgbClr val="DCE5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0125" y="45720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818913" y="2651760"/>
            <a:ext cx="0" cy="1874520"/>
          </a:xfrm>
          <a:prstGeom prst="line">
            <a:avLst/>
          </a:prstGeom>
          <a:noFill/>
          <a:ln w="12700">
            <a:solidFill>
              <a:srgbClr val="DCE5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44593" y="45720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283464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Συνεχώς ξύπνιος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21040" y="2871216"/>
            <a:ext cx="32004" cy="502920"/>
          </a:xfrm>
          <a:prstGeom prst="rect">
            <a:avLst/>
          </a:prstGeom>
          <a:solidFill>
            <a:srgbClr val="B4472F"/>
          </a:solidFill>
          <a:ln w="12700">
            <a:solidFill>
              <a:srgbClr val="B4472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44484" y="2834640"/>
            <a:ext cx="603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53328" y="3803904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Ξυπνά μόνο όταν χρειάζεται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21040" y="3840480"/>
            <a:ext cx="2560320" cy="5029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972800" y="3803904"/>
            <a:ext cx="603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321040" y="2651760"/>
            <a:ext cx="0" cy="1874520"/>
          </a:xfrm>
          <a:prstGeom prst="line">
            <a:avLst/>
          </a:prstGeom>
          <a:noFill/>
          <a:ln w="15875">
            <a:solidFill>
              <a:srgbClr val="9FB0A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Υπολογισμοί από τις σταθερές λειτουργίας του ίδιου του κόμβου: κύκλος 15 λεπτών, ~2,5 δευτ. ξύπνιος, μπαταρία 1500 mAh.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ΠΡΑΓΜΑΤΙΚΕΣ ΟΘΟΝΕΣ ΑΠΟ ΤΗΝ ΕΦΑΡΜΟΓΗ  ·  ΕΠΑΛΗΘΕΥΜΕΝΟ ΣΕ ΠΡΑΓΜΑΤΙΚΟ ΥΛΙΚΟ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ίδιο δίκτυο. Τέσσερις φορές. Καμία ρύθμιση.</a:t>
            </a:r>
            <a:endParaRPr lang="en-US" sz="2900" dirty="0"/>
          </a:p>
        </p:txBody>
      </p:sp>
      <p:pic>
        <p:nvPicPr>
          <p:cNvPr id="4" name="Image 0" descr="assets/mesh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2377440" cy="3813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468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Δύο απευθείας,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ένας μέσω γείτονα</a:t>
            </a:r>
            <a:endParaRPr lang="en-US" sz="1150" dirty="0"/>
          </a:p>
        </p:txBody>
      </p:sp>
      <p:pic>
        <p:nvPicPr>
          <p:cNvPr id="6" name="Image 1" descr="assets/mesh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72768"/>
            <a:ext cx="2377440" cy="3813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511296" y="5468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Και οι τρεις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μέσω ενός κόμβου</a:t>
            </a:r>
            <a:endParaRPr lang="en-US" sz="1150" dirty="0"/>
          </a:p>
        </p:txBody>
      </p:sp>
      <p:pic>
        <p:nvPicPr>
          <p:cNvPr id="8" name="Image 2" descr="assets/mesh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72768"/>
            <a:ext cx="2377440" cy="3813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309360" y="5468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Αλυσίδα — τρία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άλματα ως τη γέφυρα</a:t>
            </a:r>
            <a:endParaRPr lang="en-US" sz="1150" dirty="0"/>
          </a:p>
        </p:txBody>
      </p:sp>
      <p:pic>
        <p:nvPicPr>
          <p:cNvPr id="10" name="Image 3" descr="assets/mesh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1572768"/>
            <a:ext cx="2377440" cy="3813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107424" y="5468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Και οι τρεις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απευθείας</a:t>
            </a:r>
            <a:endParaRPr lang="en-US" sz="1150" dirty="0"/>
          </a:p>
        </p:txBody>
      </p:sp>
      <p:sp>
        <p:nvSpPr>
          <p:cNvPr id="12" name="Text 6"/>
          <p:cNvSpPr txBox="1"/>
          <p:nvPr/>
        </p:nvSpPr>
        <p:spPr>
          <a:xfrm>
            <a:off x="640080" y="614476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κόμβοι διαλέγουν μόνοι τους ποιος περνάει μέσα από ποιον, ανάλογα με το σήμα της στιγμής. Όταν ένας δρόμος χαλάει, το δίκτυο ξαναστήνεται χωρίς να το ζητήσει κανείς.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ΔΙΚΤΥΟ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Πώς βρίσκει τον δρόμο του — χωρίς να του τον πει κανείς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371600" y="2249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B44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πολύ μακριά για απευθείας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051560" y="2615184"/>
            <a:ext cx="4480560" cy="0"/>
          </a:xfrm>
          <a:prstGeom prst="line">
            <a:avLst/>
          </a:prstGeom>
          <a:noFill/>
          <a:ln w="19050">
            <a:solidFill>
              <a:srgbClr val="B4472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960120" y="30632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9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Αισθητήρας</a:t>
            </a:r>
            <a:endParaRPr lang="en-US" sz="1200" dirty="0"/>
          </a:p>
        </p:txBody>
      </p:sp>
      <p:pic>
        <p:nvPicPr>
          <p:cNvPr id="9" name="Image 0" descr="assets/icons/FaArrowRight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1448" y="32918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697480" y="30632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9C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Γείτονας</a:t>
            </a:r>
            <a:endParaRPr lang="en-US" sz="1200" dirty="0"/>
          </a:p>
        </p:txBody>
      </p:sp>
      <p:pic>
        <p:nvPicPr>
          <p:cNvPr id="12" name="Image 1" descr="assets/icons/FaArrowRight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8" y="32918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434840" y="30632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43484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Γέφυρα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9502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πακέτο περνάει από τον γείτονα. Ο γείτονας το κουβαλάει — δεν το διαβάζει.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537960" y="210312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7" name="Image 2" descr="assets/icons/FaTowerBroadcas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217" y="224137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1214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καθένας λέει πόσο μακριά είναι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2432304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γέφυρα λέει «μηδέν βήματα». Όποιος την ακούει λέει «ένα». Όποιος ακούει εκείνον λέει «δύο».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537960" y="331012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1" name="Image 3" descr="assets/icons/FaRout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217" y="3448385"/>
            <a:ext cx="235549" cy="23554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23760" y="33284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Διαλέγει τον κοντινότερο στη γέφυρα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223760" y="363931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Και του δίνει τις μετρήσεις του. Αυτό είναι όλη η δρομολόγηση — δεν υπάρχει κεντρικός σχεδιασμός.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537960" y="4517136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5" name="Image 4" descr="assets/icons/FaArrowsRotat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217" y="4655393"/>
            <a:ext cx="235549" cy="23554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23760" y="45354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Αν ο δρόμος χαθεί, ξαναδιαλέγει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223760" y="48463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Μόνος του, μέσα σε δευτερόλεπτα. Κανένα ξαναστήσιμο, καμία επίσκεψη στο χωράφι.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40080" y="5742432"/>
            <a:ext cx="10911535" cy="786384"/>
          </a:xfrm>
          <a:prstGeom prst="roundRect">
            <a:avLst>
              <a:gd name="adj" fmla="val 11628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1024128" y="5870448"/>
            <a:ext cx="101434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Μόνο εγγεγραμμένες συσκευές γίνονται δεκτές ως αναμεταδότες, και οι μετρήσεις ταξιδεύουν κρυπτογραφημένες από άκρο σε άκρο.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ΑΥΤΟΜΑΤΙΣΜΟΣ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Δεν μετράει. Αποφασίζει.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ΑΙΣΘΑΝΕΤΑΙ</a:t>
            </a:r>
            <a:endParaRPr lang="en-US" sz="1150" dirty="0"/>
          </a:p>
        </p:txBody>
      </p:sp>
      <p:pic>
        <p:nvPicPr>
          <p:cNvPr id="6" name="Image 0" descr="assets/icons/FaArrowRight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8336" y="2112264"/>
            <a:ext cx="219456" cy="2194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852928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852928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ΠΡΟΒΛΕΠΕΙ</a:t>
            </a:r>
            <a:endParaRPr lang="en-US" sz="1150" dirty="0"/>
          </a:p>
        </p:txBody>
      </p:sp>
      <p:pic>
        <p:nvPicPr>
          <p:cNvPr id="9" name="Image 1" descr="assets/icons/FaArrowRight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2112264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65776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65776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ΑΠΟΦΑΣΙΖΕΙ</a:t>
            </a:r>
            <a:endParaRPr lang="en-US" sz="1150" dirty="0"/>
          </a:p>
        </p:txBody>
      </p:sp>
      <p:pic>
        <p:nvPicPr>
          <p:cNvPr id="12" name="Image 2" descr="assets/icons/FaArrowRight_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2112264"/>
            <a:ext cx="219456" cy="21945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278624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278624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ΔΡΑ</a:t>
            </a:r>
            <a:endParaRPr lang="en-US" sz="1150" dirty="0"/>
          </a:p>
        </p:txBody>
      </p:sp>
      <p:pic>
        <p:nvPicPr>
          <p:cNvPr id="15" name="Image 3" descr="assets/icons/FaArrowRight_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112264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491472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9491472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ΕΙΔΟΠΟΙΕΙ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40080" y="2834640"/>
            <a:ext cx="3456432" cy="2487168"/>
          </a:xfrm>
          <a:prstGeom prst="roundRect">
            <a:avLst>
              <a:gd name="adj" fmla="val 367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1005840" y="312724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Image 4" descr="assets/icons/FaGear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8911" y="3280319"/>
            <a:ext cx="260787" cy="26078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05840" y="38221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Κανόνες που ορίζεις εσύ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1005840" y="4187952"/>
            <a:ext cx="27614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«Αν η υγρασία του εδάφους μείνει κάτω από 35% για δύο ώρες, άνοιξε το πότισμα.» Ο κανόνας ζει στο θερμοκήπιο και τρέχει ακόμη κι αν το κινητό σου είναι κλειστό.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70832" y="2834640"/>
            <a:ext cx="3456432" cy="2487168"/>
          </a:xfrm>
          <a:prstGeom prst="roundRect">
            <a:avLst>
              <a:gd name="adj" fmla="val 367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4736592" y="312724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5" name="Image 5" descr="assets/icons/FaLeaf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9663" y="3280319"/>
            <a:ext cx="260787" cy="260787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736592" y="38221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Προφίλ φυτού ανά ζώνη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736592" y="4187952"/>
            <a:ext cx="27614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Οκτώ έτοιμα προφίλ — τομάτα, αγγούρι, πιπεριά, μελιτζάνα, μαρούλι, βασιλικός, φράουλα, παχύφυτα. Λες τι φύτεψες· τα σωστά όρια μπαίνουν μόνα τους.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8101584" y="2834640"/>
            <a:ext cx="3456432" cy="2487168"/>
          </a:xfrm>
          <a:prstGeom prst="roundRect">
            <a:avLst>
              <a:gd name="adj" fmla="val 367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8467344" y="312724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30" name="Image 6" descr="assets/icons/FaSnowflake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0415" y="3280319"/>
            <a:ext cx="260787" cy="260787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467344" y="38221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Παγετός πριν συμβεί</a:t>
            </a:r>
            <a:endParaRPr lang="en-US" sz="1450" dirty="0"/>
          </a:p>
        </p:txBody>
      </p:sp>
      <p:sp>
        <p:nvSpPr>
          <p:cNvPr id="32" name="Text 23"/>
          <p:cNvSpPr txBox="1"/>
          <p:nvPr/>
        </p:nvSpPr>
        <p:spPr>
          <a:xfrm>
            <a:off x="8467344" y="4187952"/>
            <a:ext cx="27614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ειδοποίηση βγαίνει από την πρόγνωση, όχι από το θερμόμετρο. Προλαβαίνεις να καλύψεις — αντί να μετρήσεις τη ζημιά το πρωί.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 σύστημα που σου λέει ότι έχει 4 βαθμούς σού δίνει δουλειά. Ένα σύστημα που κλείνει την κουρτίνα σού δίνει χρόνο.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ΑΣΦΑΛΕΙΑ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Ένα θερμοκήπιο είναι υπολογιστής. Το αντιμετωπίσαμε έτσι.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487168"/>
            <a:ext cx="621792" cy="621792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6" name="Image 0" descr="assets/icons/FaShieldHalved_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444" y="2655052"/>
            <a:ext cx="286024" cy="286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3273552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Ένας παραβιασμένος αισθητήρας δεν ανοίγει το πότισμα.</a:t>
            </a:r>
            <a:endParaRPr lang="en-US" sz="18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44074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συσκευή έχει ακριβώς τα δικαιώματα που χρειάζεται. Οι αισθητήρες μπορούν μόνο να στέλνουν μετρήσεις — δεν μπορούν να δώσουν εντολή σε τίποτα.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35040" y="210312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0" name="Image 1" descr="assets/icons/Fa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3297" y="2241377"/>
            <a:ext cx="235549" cy="23554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20840" y="21031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Κρυπτογράφηση σε κάθε σύνδεση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720840" y="2404872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εφαρμογή αναγνωρίζει τη δική σου μονάδα και μόνο αυτήν.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2962656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4" name="Image 2" descr="assets/icons/FaQrcod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297" y="3100913"/>
            <a:ext cx="235549" cy="23554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20840" y="2962656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Ζευγάρωμα με QR ή εξαψήφιο PIN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6720840" y="3264408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κλειδιά περνούν εκτός δικτύου — δεν ταξιδεύουν ποτέ στον αέρα.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035040" y="3822192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8" name="Image 3" descr="assets/icons/Fa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297" y="3960449"/>
            <a:ext cx="235549" cy="23554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20840" y="38221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Καταγραφή και ειδοποίηση συμβάντων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6720840" y="4123944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όριο συχνότητας, ώστε οι ίδιες οι ειδοποιήσεις να μη γίνουν όπλο.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035040" y="468172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2" name="Image 4" descr="assets/icons/FaFlaskVial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3297" y="4819985"/>
            <a:ext cx="235549" cy="23554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720840" y="46817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Μοναδικά μυστικά ανά μονάδα</a:t>
            </a:r>
            <a:endParaRPr lang="en-US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6720840" y="498348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Καμία κοινή προεπιλογή, και μία εντολή τα αλλάζει όλα.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640080" y="565099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Πέντε πραγματικές ευπάθειες εντοπίστηκαν και έκλεισαν σε ένα ειδικό πέρασμα ασφάλειας — και είναι όλες τεκμηριωμένες, όχι κρυμμένες.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ΔΙΑΦΟΡΑ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Τι το κάνει διαφορετικό</a:t>
            </a:r>
            <a:endParaRPr lang="en-US" sz="3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84832"/>
          <a:ext cx="109115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88920"/>
                <a:gridCol w="2670048"/>
                <a:gridCol w="266090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GreenHouse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Εμπορικό σύστημα cloud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Τυπική αυτοσχέδια λύση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Συνδρομή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Μηνιαία, συχνά ανά αισθητήρα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Πού ζουν τα δεδομένα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Στο κτήμα σου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Σε ξένο 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Τοπικά, αν το στήσεις σωστά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Χωρίς Internet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Λειτουργεί κανονικά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Σταματά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Συνήθως λειτουργεί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Τροφοδοσία κόμβου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Μπαταρία και ήλιος, για μήνες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Ρεύμα ή ιδιόκτητο δίκτυο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Πρίζα σε κάθε σημείο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Υποδομή στον χώρο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 — το δίκτυο στήνεται μόνο του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Πύλη ανά περιοχή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 και καλωδιώσεις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Προσθήκη αισθητήρα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Σκανάρεις ένα QR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Παραγγελία και ενεργοποίηση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Επαναπρογραμματισμός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Κόστος υλικού ανά κόμβο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Λίγα ευρώ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Δεκάδες έως εκατοντάδες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Λίγα ευρώ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εμπορικές τιμές και δυνατότητες διαφέρουν ανά προμηθευτή. Η σύγκριση αφορά το μοντέλο λειτουργίας, όχι κάποιο συγκεκριμένο προϊόν.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ΠΡΟΟΠΤΙΚΗ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ίδιο δίκτυο, τρεις κλίμακες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56432" cy="3429000"/>
          </a:xfrm>
          <a:prstGeom prst="roundRect">
            <a:avLst>
              <a:gd name="adj" fmla="val 266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95728"/>
            <a:ext cx="603504" cy="60350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Hou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786" y="2558674"/>
            <a:ext cx="277612" cy="2776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31638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20" kern="0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ΘΕΡΜΟΚΗΠΙΟ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566160"/>
            <a:ext cx="2761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Ζώνες μέσα σε έναν χώρο. Ένας εγκέφαλος, λίγοι κόμβοι, διαφορετικό κλίμα ανά ζώνη και πότισμα που αποφασίζεται μόνο του.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005840" y="4901184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9011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Εδώ ξεκινήσαμε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70832" y="2103120"/>
            <a:ext cx="3456432" cy="3429000"/>
          </a:xfrm>
          <a:prstGeom prst="roundRect">
            <a:avLst>
              <a:gd name="adj" fmla="val 266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36592" y="2395728"/>
            <a:ext cx="603504" cy="60350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3" name="Image 1" descr="assets/icons/FaSeedlin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9538" y="2558674"/>
            <a:ext cx="277612" cy="2776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36592" y="31638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20" kern="0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ΦΥΤΩΡΙΟ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736592" y="3566160"/>
            <a:ext cx="2761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Δεκάδες πάγκοι, άλλη παρτίδα ο καθένας. Προφίλ φυτού ανά πάγκο, ειδοποίηση ανά παρτίδα, ιστορικό ανά κύκλο παραγωγής.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736592" y="4901184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36592" y="49011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επόμενο προϊόν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101584" y="2103120"/>
            <a:ext cx="3456432" cy="3429000"/>
          </a:xfrm>
          <a:prstGeom prst="roundRect">
            <a:avLst>
              <a:gd name="adj" fmla="val 266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467344" y="2395728"/>
            <a:ext cx="603504" cy="60350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Image 2" descr="assets/icons/FaTracto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0290" y="2558674"/>
            <a:ext cx="277612" cy="27761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67344" y="31638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20" kern="0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ΧΩΡΑΦΙ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8467344" y="3566160"/>
            <a:ext cx="2761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Χιλιόμετρα αντί για μέτρα. Ίδια λογική δικτύου, ραδιοεπικοινωνία μεγάλης εμβέλειας, κόμβοι που ζουν αποκλειστικά από τον ήλιο.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8467344" y="4901184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467344" y="49011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ορίζοντας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577900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κώδικας δεν αλλάζει όταν αλλάζει η κλίμακα. Αλλάζει μόνο πόσοι κόμβοι μιλούν.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ΑΓΟΡΑ ΠΟΥ ΠΟΝΑΕΙ ΠΕΡΙΣΣΟΤΕΡΟ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φυτώριο είναι το πραγματικό πρώτο προϊόν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0352" cy="53035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assets/icons/Fa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275" y="2246315"/>
            <a:ext cx="243962" cy="2439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53312" y="208483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Εκατοντάδες παρτίδες, ένας άνθρωπος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353312" y="241401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πάγκος θέλει άλλη υγρασία και άλλη θερμοκρασία. Κανείς δεν προλαβαίνει να τους ελέγξει όλους, κάθε μέρα.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364992"/>
            <a:ext cx="530352" cy="53035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9" name="Image 1" descr="assets/icons/FaTemperatureHalf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75" y="3508187"/>
            <a:ext cx="243962" cy="2439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53312" y="334670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διπλανός πάγκος έχει άλλο μικροκλίμα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353312" y="367588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Ένας αισθητήρας στη μέση του χώρου δεν λέει τίποτα για τη γωνία που παγώνει ή για τον πάγκο κάτω από τον εξαεριστήρα.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626864"/>
            <a:ext cx="530352" cy="53035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3" name="Image 2" descr="assets/icons/FaTriangleExclama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75" y="4770059"/>
            <a:ext cx="243962" cy="2439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53312" y="460857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απώλεια σπορόφυτων είναι ακριβή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1353312" y="493776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χάνεις μια μέτρηση — χάνεις τη δουλειά ενός ολόκληρου κύκλου παραγωγής και την παράδοση που είχες υποσχεθεί.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92240" y="2103120"/>
            <a:ext cx="5056632" cy="3246120"/>
          </a:xfrm>
          <a:prstGeom prst="roundRect">
            <a:avLst>
              <a:gd name="adj" fmla="val 2817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03720" y="2487168"/>
            <a:ext cx="621792" cy="621792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8" name="Image 3" descr="assets/icons/FaLeaf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604" y="2655052"/>
            <a:ext cx="286024" cy="28602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03720" y="3291840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σύστημα έχει ήδη το κρίσιμο κομμάτι.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6903720" y="404164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προφίλ φυτού ανά ζώνη υπάρχουν σήμερα μέσα στην εφαρμογή. Ένα φυτώριο δεν χρειάζεται καινούργια ιδέα — χρειάζεται τους ίδιους κόμβους, απλώς περισσότερους. Ίδιο υλικό, ίδια εφαρμογή, δέκα φορές περισσότεροι πάγκοι.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577900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 φυτώριο δεν αγοράζει αισθητήρες. Αγοράζει τη σιγουριά ότι δεν θα χαθεί μια παρτίδα.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ΕΜΠΕΙΡΙΑ ΤΟΥ ΧΡΗΣΤΗ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Plug &amp; play: το σκανάρεις, μπαίνει, δουλεύει.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84832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A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614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Βγάζεις τον αισθητήρα από το κουτί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64992"/>
            <a:ext cx="2761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Έρχεται με το δικό του κλειδί, τυπωμένο ως QR επάνω του. Καμία ρύθμιση, κανένα καλώδιο, κανένας κωδικός.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70832" y="2084832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36592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A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736592" y="27614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Τον σκανάρεις με το κινητό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736592" y="3364992"/>
            <a:ext cx="2761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εγκέφαλος τον δέχεται για λίγα λεπτά και μόνο τότε. Δεν χρειάζεται να αγγίξεις καμία άλλη συσκευή του δικτύου.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2084832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67344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A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467344" y="27614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Μετράει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467344" y="3364992"/>
            <a:ext cx="2761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Βρίσκει μόνος του δρόμο προς τη γέφυρα, εμφανίζεται στην εφαρμογή και αρχίζει να στέλνει. Χρόνος: δευτερόλεπτα.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11535" cy="1234440"/>
          </a:xfrm>
          <a:prstGeom prst="roundRect">
            <a:avLst>
              <a:gd name="adj" fmla="val 7407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24128" y="4562856"/>
            <a:ext cx="10143439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κόμβος ξέρει μόνο τον εγκέφαλο. Οι ενδιάμεσοι κουβαλούν το πακέτο χωρίς να το διαβάζουν — γι’ αυτό η προσθήκη ενός αισθητήρα δεν αγγίζει κανέναν άλλον, και το πλήθος των αισθητήρων δεν έχει πρακτικό όριο.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978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ίδιο μοτίβο κλειδιών που χρησιμοποιεί το Bluetooth Mesh: ένα κλειδί δικτύου για τη δρομολόγηση, ένα ξεχωριστό κλειδί ανά συσκευή για το περιεχόμενο.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ΤΕΛΙΚΟΣ ΣΤΟΧΟΣ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θερμοκήπιο κλείνει τον βρόχο μόνο του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207008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5" name="Image 0" descr="assets/icons/FaTemperatureHalf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487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ΑΙΣΘΑΝΕΤΑΙ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ζώνη ξεχωριστά</a:t>
            </a:r>
            <a:endParaRPr lang="en-US" sz="1100" dirty="0"/>
          </a:p>
        </p:txBody>
      </p:sp>
      <p:pic>
        <p:nvPicPr>
          <p:cNvPr id="8" name="Image 1" descr="assets/icons/FaArrowRight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578608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46704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10" name="Image 2" descr="assets/icons/FaCloudArrowUp_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2487168"/>
            <a:ext cx="438912" cy="4389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990088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ΠΡΟΒΛΕΠΕΙ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2944368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τον καιρό που έρχεται</a:t>
            </a:r>
            <a:endParaRPr lang="en-US" sz="1100" dirty="0"/>
          </a:p>
        </p:txBody>
      </p:sp>
      <p:pic>
        <p:nvPicPr>
          <p:cNvPr id="13" name="Image 3" descr="assets/icons/FaArrowRight_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2578608"/>
            <a:ext cx="256032" cy="25603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86400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15" name="Image 4" descr="assets/icons/FaBrain_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0448" y="2487168"/>
            <a:ext cx="438912" cy="43891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129784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ΑΠΟΦΑΣΙΖΕΙ</a:t>
            </a:r>
            <a:endParaRPr lang="en-US" sz="1250" dirty="0"/>
          </a:p>
        </p:txBody>
      </p:sp>
      <p:sp>
        <p:nvSpPr>
          <p:cNvPr id="17" name="Text 10"/>
          <p:cNvSpPr txBox="1"/>
          <p:nvPr/>
        </p:nvSpPr>
        <p:spPr>
          <a:xfrm>
            <a:off x="5084064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βάση το τι φυτεύτηκε</a:t>
            </a:r>
            <a:endParaRPr lang="en-US" sz="1100" dirty="0"/>
          </a:p>
        </p:txBody>
      </p:sp>
      <p:pic>
        <p:nvPicPr>
          <p:cNvPr id="18" name="Image 5" descr="assets/icons/FaArrowRight_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2578608"/>
            <a:ext cx="256032" cy="25603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7626096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20" name="Image 6" descr="assets/icons/FaBolt_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0144" y="2487168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26948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ΔΡΑ</a:t>
            </a:r>
            <a:endParaRPr lang="en-US" sz="1250" dirty="0"/>
          </a:p>
        </p:txBody>
      </p:sp>
      <p:sp>
        <p:nvSpPr>
          <p:cNvPr id="22" name="Text 13"/>
          <p:cNvSpPr txBox="1"/>
          <p:nvPr/>
        </p:nvSpPr>
        <p:spPr>
          <a:xfrm>
            <a:off x="7223760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πότισμα, αερισμός, κάλυψη</a:t>
            </a:r>
            <a:endParaRPr lang="en-US" sz="1100" dirty="0"/>
          </a:p>
        </p:txBody>
      </p:sp>
      <p:pic>
        <p:nvPicPr>
          <p:cNvPr id="23" name="Image 7" descr="assets/icons/FaArrowRight_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0848" y="2578608"/>
            <a:ext cx="256032" cy="256032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9765792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25" name="Image 8" descr="assets/icons/FaChartLine_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9840" y="2487168"/>
            <a:ext cx="438912" cy="438912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9409176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ΜΑΘΑΙΝΕΙ</a:t>
            </a:r>
            <a:endParaRPr lang="en-US" sz="1250" dirty="0"/>
          </a:p>
        </p:txBody>
      </p:sp>
      <p:sp>
        <p:nvSpPr>
          <p:cNvPr id="27" name="Text 16"/>
          <p:cNvSpPr txBox="1"/>
          <p:nvPr/>
        </p:nvSpPr>
        <p:spPr>
          <a:xfrm>
            <a:off x="9363456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από το δικό του ιστορικό</a:t>
            </a:r>
            <a:endParaRPr lang="en-US" sz="1100" dirty="0"/>
          </a:p>
        </p:txBody>
      </p:sp>
      <p:sp>
        <p:nvSpPr>
          <p:cNvPr id="28" name="Text 17"/>
          <p:cNvSpPr txBox="1"/>
          <p:nvPr/>
        </p:nvSpPr>
        <p:spPr>
          <a:xfrm>
            <a:off x="1280160" y="45262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μονάδα κρατά δύο χρόνια ιστορικού ανά ζώνη. Με τον καιρό δεν ξέρει μόνο τι συμβαίνει — ξέρει τι δουλεύει σε αυτό ακριβώς το θερμοκήπιο, με αυτό ακριβώς το χώμα.</a:t>
            </a:r>
            <a:endParaRPr lang="en-US" sz="1450" dirty="0"/>
          </a:p>
        </p:txBody>
      </p:sp>
      <p:sp>
        <p:nvSpPr>
          <p:cNvPr id="29" name="Text 18"/>
          <p:cNvSpPr txBox="1"/>
          <p:nvPr/>
        </p:nvSpPr>
        <p:spPr>
          <a:xfrm>
            <a:off x="1280160" y="54406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στόχος δεν είναι να σου δείχνει νούμερα. Είναι να μη χρειάζεται να τα κοιτάξεις.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ΓΕΝΙΚΗ ΑΞΙΑ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θερμοκήπιο είναι η πρώτη εφαρμογή. Το δίκτυο είναι το προϊόν.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πρόβλημα που λύθηκε είναι γενικό: αξιόπιστες μετρήσεις από συσκευές με μπαταρία, σε χώρους χωρίς υποδομή, χωρίς εξάρτηση από cloud, με ασφάλεια εξαρχής. Άλλαξε τον αισθητήρα επάνω — το υπόλοιπο μένει ίδιο.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7" name="Image 0" descr="assets/icons/FaTruckFas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3082625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Ψυκτική αλυσίδα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Θερμοκρασία σε κάθε παλέτα, όχι μόνο σε κάθε φορτηγό.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862072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99816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1" descr="assets/icons/FaFis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073" y="3082625"/>
            <a:ext cx="235549" cy="2355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99816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Υδατοκαλλιέργεια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099816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Δεξαμενές που δεν έχουν ούτε ρεύμα ούτε δίκτυο.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84064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21808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7" name="Image 2" descr="assets/icons/FaBuilding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0065" y="3082625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21808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Κτίρια και μουσεία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5321808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Υγρασία ανά αίθουσα, χωρίς νέα καλωδίωση σε διατηρητέο.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306056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543800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2" name="Image 3" descr="assets/icons/FaSolarPanel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2057" y="3082625"/>
            <a:ext cx="235549" cy="23554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43800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Ενεργειακά πάρκα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7543800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Παρακολούθηση σε εκτάσεις όπου δεν υπάρχει τίποτα.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9528048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765792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7" name="Image 4" descr="assets/icons/FaFlaskVial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4049" y="3082625"/>
            <a:ext cx="235549" cy="235549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765792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Περιβαλλοντική έρευνα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9765792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Μακροχρόνιες μετρήσεις σε σημεία χωρίς πρίζα.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40080" y="5230368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24128" y="5358384"/>
            <a:ext cx="10143439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Ίδιοι κόμβοι, ίδιο πρωτόκολλο, άλλος αισθητήρας επάνω. Η δύσκολη δουλειά — ενέργεια, δρομολόγηση, ασφάλεια — έχει ήδη γίνει μία φορά.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4619549"/>
            <a:ext cx="1069848" cy="-641909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619549"/>
            <a:ext cx="356616" cy="1212494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36608" y="3977640"/>
            <a:ext cx="-106985" cy="1390802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9623" y="5368442"/>
            <a:ext cx="1176833" cy="-606247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06456" y="4762195"/>
            <a:ext cx="-213970" cy="1355141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06456" y="4762195"/>
            <a:ext cx="784555" cy="855878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23376" y="5832043"/>
            <a:ext cx="606247" cy="-463601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0400" y="4573189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65285" y="3906317"/>
            <a:ext cx="142646" cy="142646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83263" y="5322082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60096" y="4715835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46126" y="6070976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77016" y="5785683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4651" y="5571714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1572768"/>
            <a:ext cx="9418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Ένα θερμοκήπιο που το κοιτάς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όταν θέλεις — όχι όταν πρέπει.</a:t>
            </a:r>
            <a:endParaRPr lang="en-US" sz="3100" dirty="0"/>
          </a:p>
        </p:txBody>
      </p:sp>
      <p:pic>
        <p:nvPicPr>
          <p:cNvPr id="17" name="Image 0" descr="assets/icons/FaCheck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849624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98448" y="37947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Ολοκλήρωση της εμπειρίας plug &amp; play</a:t>
            </a:r>
            <a:endParaRPr lang="en-US" sz="1500" dirty="0"/>
          </a:p>
        </p:txBody>
      </p:sp>
      <p:pic>
        <p:nvPicPr>
          <p:cNvPr id="19" name="Image 1" descr="assets/icons/FaCheck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41655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98448" y="436168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Πιλοτική εγκατάσταση σε φυτώριο</a:t>
            </a:r>
            <a:endParaRPr lang="en-US" sz="1500" dirty="0"/>
          </a:p>
        </p:txBody>
      </p:sp>
      <p:pic>
        <p:nvPicPr>
          <p:cNvPr id="21" name="Image 2" descr="assets/icons/FaCheck_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983480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298448" y="4928616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Κόμβοι μεγάλης εμβέλειας για ανοιχτό χωράφι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  ·  Σεπτέμβριος 2026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ΠΑΡΑΡΤΗΜΑ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Πού βρίσκεται το έργο σήμερα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68880" cy="1298448"/>
          </a:xfrm>
          <a:prstGeom prst="roundRect">
            <a:avLst>
              <a:gd name="adj" fmla="val 704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2128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22.000+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700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γραμμές κώδικα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2103120"/>
            <a:ext cx="2468880" cy="1298448"/>
          </a:xfrm>
          <a:prstGeom prst="roundRect">
            <a:avLst>
              <a:gd name="adj" fmla="val 704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03320" y="22128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26700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υπηρεσίες στον εγκέφαλο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2468880" cy="1298448"/>
          </a:xfrm>
          <a:prstGeom prst="roundRect">
            <a:avLst>
              <a:gd name="adj" fmla="val 704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22128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45/45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6700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έλεγχοι συστήματος, όλοι επιτυχείς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2103120"/>
            <a:ext cx="2468880" cy="1298448"/>
          </a:xfrm>
          <a:prstGeom prst="roundRect">
            <a:avLst>
              <a:gd name="adj" fmla="val 704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81160" y="22128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26700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αρχεία αυτόματων δοκιμών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75888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Γέφυρα και κόμβοι αισθητήρων λειτουργούν σε πραγματικό υλικό· η αναμετάδοση μέσω ενδιάμεσου κόμβου έχει επαληθευτεί στον αέρα (Αύγουστος 2026).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Εφαρμογή Android: πίνακας ανά ζώνη, ζωντανός χάρτης δικτύου, ιστορικό με εξαγωγή CSV, κανόνες αυτοματισμού, ειδοποιήσεις, προφίλ φυτών.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Απομακρυσμένη πρόσβαση εκτός τοπικού δικτύου, με κρυπτογράφηση και ζευγάρωμα μέσω QR.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Εγκατάσταση από μηδέν: το σύστημα σηκώνει δικό του δίκτυο για την πρώτη ρύθμιση — δεν χρειάζεται οθόνη ή πληκτρολόγιο.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Τεκμηρίωση: αρχιτεκτονική, τεχνικό εγχειρίδιο ανά επίπεδο δικτύου, ανάλυση ασφάλειας, ενεργειακή μελέτη.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ΠΑΡΑΡΤΗΜΑ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Ενεργειακός προϋπολογισμός ενός κόμβου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91153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Μέγεθος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Τιμή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 σημαίνει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Κύκλος μέτρησης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λεπτά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Αρκετά πυκνά για κλίμα θερμοκηπίου, αρκετά αραιά για μπαταρία.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Χρόνος ξύπνιου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 δευτερόλεπτα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0,28% του χρόνου. Τον υπόλοιπο, το ραδιόφωνο είναι σβηστό.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Ρεύμα ενεργά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~86,5 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Μόνο όσο διαρκεί η μέτρηση και η αποστολή.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Ρεύμα στον ύπνο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~62,5 µA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Χίλιες τετρακόσιες φορές λιγότερο από την ενεργή κατάσταση.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Κατανάλωση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~7,3 mAh την ημέρα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Λιγότερο απ’ όσο χάνει μόνη της μια μπαταρία στο ράφι.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Μπαταρία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 mAh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Μία κοινή επαναφορτιζόμενη κυψέλη.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Αυτονομία χωρίς ήλιο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~205 ημέρες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Σχεδόν επτά μήνες σε απόλυτο σκοτάδι.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Ηλιακό πάνελ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Περίπου 60 φορές περισσότερη ενέργεια απ’ όση χρειάζεται, στον χειμώνα.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521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τιμές προκύπτουν από τις σταθερές λειτουργίας του κόμβου· η επιβεβαίωση σε συνθήκες πεδίου βρίσκεται σε εξέλιξη.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ΠΑΡΑΡΤΗΜΑ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Πηγές και τεκμηρίωση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assets/icons/FaSeedling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337" y="2241377"/>
            <a:ext cx="235549" cy="23554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53312" y="20848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Θερμοκηπιακές εκτάσεις στην Ελλάδα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353312" y="239572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Ελληνική Στατιστική Αρχή (ΕΛΣΤΑΤ), ετήσια γεωργική έρευνα — στοιχεία 2018: 59.983 στρέμματα κηπευτικών και 6.017 στρέμματα ανθοκομικών υπό κάλυψη.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15468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9" name="Image 1" descr="assets/icons/FaDropl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7" y="3292937"/>
            <a:ext cx="235549" cy="2355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53312" y="31363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Άρδευση και κατανάλωση νερού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353312" y="344728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Latinopoulos, «Valuation and pricing of irrigation water», Global NEST Journal — η άρδευση αντιστοιχεί σε 80–85% της συνολικής κατανάλωσης νερού στην Ελλάδα.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420624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3" name="Image 2" descr="assets/icons/FaCloudArrowU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37" y="4344497"/>
            <a:ext cx="235549" cy="23554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53312" y="41879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Πρόγνωση καιρού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353312" y="449884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— ανοιχτή υπηρεσία πρόγνωσης, χωρίς κλειδί και χωρίς κόστος, που τροφοδοτεί τους κανόνες και τις ειδοποιήσεις παγετού.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525780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7" name="Image 3" descr="assets/icons/FaChartLin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337" y="5396057"/>
            <a:ext cx="235549" cy="23554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2395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Τεχνική τεκμηρίωση του έργου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353312" y="555040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Αρχιτεκτονική, τεχνικό εγχειρίδιο ανά επίπεδο δικτύου, ανάλυση ασφάλειας και ενεργειακή μελέτη — όλα μέσα στο αποθετήριο του έργου.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GreenHouse — Παρουσίαση προϊόντος</dc:title>
  <dc:subject>PptxGenJS Presentation</dc:subject>
  <dc:creator>GreenHouse</dc:creator>
  <cp:lastModifiedBy>GreenHouse</cp:lastModifiedBy>
  <cp:revision>1</cp:revision>
  <dcterms:created xsi:type="dcterms:W3CDTF">2026-09-09T06:19:44Z</dcterms:created>
  <dcterms:modified xsi:type="dcterms:W3CDTF">2026-09-09T06:19:44Z</dcterms:modified>
</cp:coreProperties>
</file>